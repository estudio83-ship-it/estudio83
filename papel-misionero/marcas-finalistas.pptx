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e48cb91-f32d-3918-b54c-7c712739917f}">
          <p14:sldIdLst>
            <p14:sldId id="256"/>
          </p14:sldIdLst>
        </p14:section>
        <p14:section name="Benchmark" id="{f1e0886a-009c-8f7d-d204-0093a61b66ac}">
          <p14:sldIdLst>
            <p14:sldId id="257"/>
            <p14:sldId id="258"/>
            <p14:sldId id="259"/>
          </p14:sldIdLst>
        </p14:section>
        <p14:section name="La P" id="{bf965b05-fd78-98e7-4974-47772c8d1466}">
          <p14:sldIdLst>
            <p14:sldId id="260"/>
            <p14:sldId id="261"/>
            <p14:sldId id="262"/>
            <p14:sldId id="263"/>
            <p14:sldId id="264"/>
          </p14:sldIdLst>
        </p14:section>
        <p14:section name="Sellos y contenedores" id="{d5c36879-0084-dcd1-f01d-f31d1d863340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Árbol solo" id="{67668bb5-d2be-53e7-b8ef-eb3cb6e6c991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monolínea con araucaria (A1),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con araucaria calada (A4),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espiral (N1),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de anillos (N3), sección La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arco (A3),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en sello (A5),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del tronco (N2),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pino (N4),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Sello: anillos y araucaria (N5), sección Sellos y contenedores.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de ramas (A2),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Araucaria (P4),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(P1),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Pino pleno (P2),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Trazo pesado (P3), sección Árbol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0000"/>
              </a:lnSpc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UEST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5000"/>
              </a:lnSpc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PAPEL MISIONERO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Papel Misionero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Marcas finalistas · negativo y una tinta sobre kraft · Helvetica por niveles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PUNTO DE PARTIDA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Benchmark de categoría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accent5"/>
                </a:solidFill>
              </a:rPr>
              <a:t>Relevamos los tableros de referencia de marcas forestales y de madera. El árbol es el signo más usado de la categoría: diferenciarse exige contarlo desde lo que solo Papel Misionero tiene: la P, el papel y Misiones.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recursos que se repiten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BENCHMARK · RECURSOS DE LA CATEGORÍA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Frecuencia estimada sobre el relevamiento de referencias aportadas.</a:t>
            </a:r>
            <a:endParaRPr lang="en-US" sz="1500" dirty="0"/>
          </a:p>
        </p:txBody>
      </p:sp>
      <p:sp>
        <p:nvSpPr>
          <p:cNvPr id="5" name="Recurso Pino de pisos"/>
          <p:cNvSpPr/>
          <p:nvPr/>
        </p:nvSpPr>
        <p:spPr>
          <a:xfrm>
            <a:off x="457200" y="210312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o Pino de pisos"/>
          <p:cNvSpPr txBox="1"/>
          <p:nvPr/>
        </p:nvSpPr>
        <p:spPr>
          <a:xfrm>
            <a:off x="685800" y="228600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Pino de pisos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Triángulos o chevrones apilados, solos o en círculo.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Muy alta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Genérico: se pierde entre cientos de marcas.</a:t>
            </a:r>
            <a:endParaRPr lang="en-US" sz="2000" dirty="0"/>
          </a:p>
        </p:txBody>
      </p:sp>
      <p:sp>
        <p:nvSpPr>
          <p:cNvPr id="7" name="Recurso Letra con árbol"/>
          <p:cNvSpPr/>
          <p:nvPr/>
        </p:nvSpPr>
        <p:spPr>
          <a:xfrm>
            <a:off x="4251960" y="210312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o Letra con árbol"/>
          <p:cNvSpPr txBox="1"/>
          <p:nvPr/>
        </p:nvSpPr>
        <p:spPr>
          <a:xfrm>
            <a:off x="4480560" y="228600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2"/>
                </a:solidFill>
              </a:rPr>
              <a:t>Letra con árbol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El pino se recorta dentro de una inicial.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Alta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Recurso fuerte si la letra es propia: la P.</a:t>
            </a:r>
            <a:endParaRPr lang="en-US" sz="2000" dirty="0"/>
          </a:p>
        </p:txBody>
      </p:sp>
      <p:sp>
        <p:nvSpPr>
          <p:cNvPr id="9" name="Recurso Líneas paralelas"/>
          <p:cNvSpPr/>
          <p:nvPr/>
        </p:nvSpPr>
        <p:spPr>
          <a:xfrm>
            <a:off x="8046720" y="210312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o Líneas paralelas"/>
          <p:cNvSpPr txBox="1"/>
          <p:nvPr/>
        </p:nvSpPr>
        <p:spPr>
          <a:xfrm>
            <a:off x="8275320" y="228600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Líneas paralelas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El árbol se dibuja con trazos o hebras.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Media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Elegante, pero se empasta en tamaños chicos.</a:t>
            </a:r>
            <a:endParaRPr lang="en-US" sz="2000" dirty="0"/>
          </a:p>
        </p:txBody>
      </p:sp>
      <p:sp>
        <p:nvSpPr>
          <p:cNvPr id="11" name="Recurso Insignia vintage"/>
          <p:cNvSpPr/>
          <p:nvPr/>
        </p:nvSpPr>
        <p:spPr>
          <a:xfrm>
            <a:off x="457200" y="420624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o Insignia vintage"/>
          <p:cNvSpPr txBox="1"/>
          <p:nvPr/>
        </p:nvSpPr>
        <p:spPr>
          <a:xfrm>
            <a:off x="685800" y="43891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Insignia vintage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Escudos y grabados con estética de cabaña.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Media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Ajena a una industria papelera moderna.</a:t>
            </a:r>
            <a:endParaRPr lang="en-US" sz="2000" dirty="0"/>
          </a:p>
        </p:txBody>
      </p:sp>
      <p:sp>
        <p:nvSpPr>
          <p:cNvPr id="13" name="Recurso Árbol orgánico"/>
          <p:cNvSpPr/>
          <p:nvPr/>
        </p:nvSpPr>
        <p:spPr>
          <a:xfrm>
            <a:off x="4251960" y="420624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o Árbol orgánico"/>
          <p:cNvSpPr txBox="1"/>
          <p:nvPr/>
        </p:nvSpPr>
        <p:spPr>
          <a:xfrm>
            <a:off x="4480560" y="43891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2"/>
                </a:solidFill>
              </a:rPr>
              <a:t>Árbol orgánico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Copas redondeadas y ramas de trazo afinado.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Alta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Calidez y oficio; el tono que adoptamos.</a:t>
            </a:r>
            <a:endParaRPr lang="en-US" sz="2000" dirty="0"/>
          </a:p>
        </p:txBody>
      </p:sp>
      <p:sp>
        <p:nvSpPr>
          <p:cNvPr id="15" name="Recurso Piña y anillos"/>
          <p:cNvSpPr/>
          <p:nvPr/>
        </p:nvSpPr>
        <p:spPr>
          <a:xfrm>
            <a:off x="8046720" y="4206240"/>
            <a:ext cx="3611880" cy="192024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o Piña y anillos"/>
          <p:cNvSpPr txBox="1"/>
          <p:nvPr/>
        </p:nvSpPr>
        <p:spPr>
          <a:xfrm>
            <a:off x="8275320" y="43891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2"/>
                </a:solidFill>
              </a:rPr>
              <a:t>Piña y anillos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La semilla o el corte del tronco como signo.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Frecuencia: Baja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Espacio poco explorado: territorio propio.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Dónde se ubican las propuestas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BENCHMARK · MAPA DE POSICIONAMIENTO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 mayoría de la categoría se agrupa en lo literal y genérico. Las tres familias de propuestas ocupan el cuadrante propio de Papel Misionero.</a:t>
            </a:r>
            <a:endParaRPr lang="en-US" sz="1500" dirty="0"/>
          </a:p>
        </p:txBody>
      </p:sp>
      <p:sp>
        <p:nvSpPr>
          <p:cNvPr id="5" name="Mapa"/>
          <p:cNvSpPr/>
          <p:nvPr/>
        </p:nvSpPr>
        <p:spPr>
          <a:xfrm>
            <a:off x="2103120" y="2286000"/>
            <a:ext cx="8595360" cy="3703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2286000"/>
            <a:ext cx="0" cy="370332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4137660"/>
            <a:ext cx="859536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6062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6"/>
                </a:solidFill>
              </a:rPr>
              <a:t>GENÉRICO DE LA CATEGORÍA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6062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chemeClr val="accent6"/>
                </a:solidFill>
              </a:rPr>
              <a:t>PROPIO DE PAPEL MISIONERO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chemeClr val="accent6"/>
                </a:solidFill>
              </a:rPr>
              <a:t>ABSTRACTO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715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chemeClr val="accent6"/>
                </a:solidFill>
              </a:rPr>
              <a:t>LITERAL</a:t>
            </a:r>
            <a:endParaRPr lang="en-US" sz="1100" dirty="0"/>
          </a:p>
        </p:txBody>
      </p:sp>
      <p:sp>
        <p:nvSpPr>
          <p:cNvPr id="12" name="Punto Pino de pisos"/>
          <p:cNvSpPr/>
          <p:nvPr/>
        </p:nvSpPr>
        <p:spPr>
          <a:xfrm>
            <a:off x="3033979" y="5296205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Rótulo Pino de pisos"/>
          <p:cNvSpPr txBox="1"/>
          <p:nvPr/>
        </p:nvSpPr>
        <p:spPr>
          <a:xfrm>
            <a:off x="3308299" y="5241341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Pino de pisos</a:t>
            </a:r>
            <a:endParaRPr lang="en-US" sz="1300" dirty="0"/>
          </a:p>
        </p:txBody>
      </p:sp>
      <p:sp>
        <p:nvSpPr>
          <p:cNvPr id="14" name="Punto Insignia vintage"/>
          <p:cNvSpPr/>
          <p:nvPr/>
        </p:nvSpPr>
        <p:spPr>
          <a:xfrm>
            <a:off x="3893515" y="4629607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Rótulo Insignia vintage"/>
          <p:cNvSpPr txBox="1"/>
          <p:nvPr/>
        </p:nvSpPr>
        <p:spPr>
          <a:xfrm>
            <a:off x="4167835" y="4574743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Insignia vintage</a:t>
            </a:r>
            <a:endParaRPr lang="en-US" sz="1300" dirty="0"/>
          </a:p>
        </p:txBody>
      </p:sp>
      <p:sp>
        <p:nvSpPr>
          <p:cNvPr id="16" name="Punto Letra con árbol"/>
          <p:cNvSpPr/>
          <p:nvPr/>
        </p:nvSpPr>
        <p:spPr>
          <a:xfrm>
            <a:off x="5096866" y="4259275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Rótulo Letra con árbol"/>
          <p:cNvSpPr txBox="1"/>
          <p:nvPr/>
        </p:nvSpPr>
        <p:spPr>
          <a:xfrm>
            <a:off x="5371186" y="4204411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Letra con árbol</a:t>
            </a:r>
            <a:endParaRPr lang="en-US" sz="1300" dirty="0"/>
          </a:p>
        </p:txBody>
      </p:sp>
      <p:sp>
        <p:nvSpPr>
          <p:cNvPr id="18" name="Punto Líneas paralelas"/>
          <p:cNvSpPr/>
          <p:nvPr/>
        </p:nvSpPr>
        <p:spPr>
          <a:xfrm>
            <a:off x="3721608" y="3296412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Rótulo Líneas paralelas"/>
          <p:cNvSpPr txBox="1"/>
          <p:nvPr/>
        </p:nvSpPr>
        <p:spPr>
          <a:xfrm>
            <a:off x="3995928" y="324154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Líneas paralelas</a:t>
            </a:r>
            <a:endParaRPr lang="en-US" sz="1300" dirty="0"/>
          </a:p>
        </p:txBody>
      </p:sp>
      <p:sp>
        <p:nvSpPr>
          <p:cNvPr id="20" name="Punto Árbol orgánico"/>
          <p:cNvSpPr/>
          <p:nvPr/>
        </p:nvSpPr>
        <p:spPr>
          <a:xfrm>
            <a:off x="2690165" y="4037076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Rótulo Árbol orgánico"/>
          <p:cNvSpPr txBox="1"/>
          <p:nvPr/>
        </p:nvSpPr>
        <p:spPr>
          <a:xfrm>
            <a:off x="2964485" y="39822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Árbol orgánico</a:t>
            </a:r>
            <a:endParaRPr lang="en-US" sz="1300" dirty="0"/>
          </a:p>
        </p:txBody>
      </p:sp>
      <p:sp>
        <p:nvSpPr>
          <p:cNvPr id="22" name="Punto Árbol solo"/>
          <p:cNvSpPr/>
          <p:nvPr/>
        </p:nvSpPr>
        <p:spPr>
          <a:xfrm>
            <a:off x="6770218" y="4806086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Rótulo Árbol solo"/>
          <p:cNvSpPr txBox="1"/>
          <p:nvPr/>
        </p:nvSpPr>
        <p:spPr>
          <a:xfrm>
            <a:off x="7135978" y="479694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Árbol solo</a:t>
            </a:r>
            <a:endParaRPr lang="en-US" sz="1500" dirty="0"/>
          </a:p>
        </p:txBody>
      </p:sp>
      <p:sp>
        <p:nvSpPr>
          <p:cNvPr id="24" name="Punto Sellos y contenedores"/>
          <p:cNvSpPr/>
          <p:nvPr/>
        </p:nvSpPr>
        <p:spPr>
          <a:xfrm>
            <a:off x="7285939" y="3472891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Rótulo Sellos y contenedores"/>
          <p:cNvSpPr txBox="1"/>
          <p:nvPr/>
        </p:nvSpPr>
        <p:spPr>
          <a:xfrm>
            <a:off x="7651699" y="3463747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Sellos y contenedores</a:t>
            </a:r>
            <a:endParaRPr lang="en-US" sz="1500" dirty="0"/>
          </a:p>
        </p:txBody>
      </p:sp>
      <p:sp>
        <p:nvSpPr>
          <p:cNvPr id="26" name="Punto La P"/>
          <p:cNvSpPr/>
          <p:nvPr/>
        </p:nvSpPr>
        <p:spPr>
          <a:xfrm>
            <a:off x="8661197" y="2806294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Rótulo La P"/>
          <p:cNvSpPr txBox="1"/>
          <p:nvPr/>
        </p:nvSpPr>
        <p:spPr>
          <a:xfrm>
            <a:off x="9026957" y="279715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 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1 · 4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La P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accent5"/>
                </a:solidFill>
              </a:rPr>
              <a:t>La inicial como contenedor del origen. La P de Papel abraza el árbol, la bobina o la madera: el nombre y el territorio se leen en un mismo signo, propio e imposible de confundir con otras marcas forestales.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monolínea con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Una sola línea dibuja la P y abraza a la araucaria, el árbol emblema de Misiones. El ojo de la letra se cierra sobre el tronco: marca y territorio en un mismo gesto. Liviana y elegante para la comunicación institucional.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 monolínea con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 monolínea con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con araucaria calada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A4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 P de cuerpo pleno recorta la araucaria en negativo. Máxima pregnancia y resistencia en impresión flexográfica: funciona como sello sobre bolsas y bobinas.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 con araucaria calad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 con araucaria calad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espiral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El pliego se enrolla como una bobina y baja para formar la P. Habla del producto, el papel en movimiento, con un único trazo continuo, simple y memorable.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 espiral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 espiral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 de anillos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LA P · N3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El ojo de la P es un corte de tronco: los anillos de crecimiento cuentan tiempo, madera y origen. Une la inicial con la materia prima.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 de anillo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 de anillo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2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Sellos y contenedores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accent5"/>
                </a:solidFill>
              </a:rPr>
              <a:t>Formas cerradas que funcionan como garantía de procedencia. Son las más compactas y resistentes: se leen en tamaños mínimos, se estampan sobre kraft y resuelven perfiles digitales sin perder identidad.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arco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 araucaria se recorta dentro de un arco, como una ventana a la selva. Compacta y legible a 16 px: la mejor versión para aplicaciones pequeñas.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Araucaria en ar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Araucaria en ar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en sello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A5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El árbol calado en un círculo: un sello de procedencia, directo y versátil, pensado para estamparse sobre kraft.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Araucaria en sell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Araucaria en sell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Corte del tronco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N2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Los anillos de crecimiento de un tronco real, levemente descentrados. Un símbolo abstracto y propio de la industria forestal, sin recurrir al dibujo del árbol.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Corte del tronc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Corte del tronc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N4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El pino, la especie que se cultiva y se transforma en papel, en el corazón del tronco. Cuenta el ciclo completo: bosque, madera y fibra.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Sello: anillos y 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Sello: anillos y 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Sello: anillos y 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SELLOS Y CONTENEDORES · N5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 misma construcción con la araucaria: el corte de la madera protege al árbol nativo, un mensaje de conservación de la selva paranaense.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Sello: anillos y 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Sello: anillos y 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chemeClr val="accent1"/>
                </a:solidFill>
              </a:rPr>
              <a:t>SECCIÓN 3 · 5 PROPUESTAS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Árbol solo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accent5"/>
                </a:solidFill>
              </a:rPr>
              <a:t>La silueta como signo. Sin contenedor ni letra, el árbol habla por sí mismo y se integra al logotipo con la mayor simplicidad. El desafío es la especie: araucaria como emblema o pino como materia prima.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 de ramas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A2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 silueta inconfundible del pino Paraná: copa plana en capas y fuste alto. Reconocida en todo el litoral como símbolo misionero.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Araucaria de ramas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Araucaria de ramas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Araucaria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P4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Versión vertical y estilizada de la araucaria, de trazo afinado. Liviana y elegante junto al logotipo.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Araucaria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Araucaria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El pino elliottii y taeda, materia prima de la compañía, dibujado con ramas que se afinan. Honestidad de origen: el árbol que se planta es el árbol que se muestra.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i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i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Pino pleno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P2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Más ramas y copa más ancha: mayor presencia y mejor equilibrio con el peso del logotipo en bold.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Pino plen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Pino plen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Trazo pesado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005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ÁRBOL SOLO · P3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Trazos robustos pensados para la impresión en bolsas y los tamaños mínimos. La versión de mayor resistencia técnica.</a:t>
            </a:r>
            <a:endParaRPr lang="en-US" sz="1500" dirty="0"/>
          </a:p>
        </p:txBody>
      </p:sp>
      <p:sp>
        <p:nvSpPr>
          <p:cNvPr id="5" name="Panel negativo"/>
          <p:cNvSpPr/>
          <p:nvPr/>
        </p:nvSpPr>
        <p:spPr>
          <a:xfrm>
            <a:off x="457200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ogo negativo" descr="Trazo pesado · negat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3473780"/>
            <a:ext cx="3749040" cy="1373480"/>
          </a:xfrm>
          <a:prstGeom prst="rect">
            <a:avLst/>
          </a:prstGeom>
        </p:spPr>
      </p:pic>
      <p:sp>
        <p:nvSpPr>
          <p:cNvPr id="7" name="Rótulo"/>
          <p:cNvSpPr txBox="1"/>
          <p:nvPr/>
        </p:nvSpPr>
        <p:spPr>
          <a:xfrm>
            <a:off x="73152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5"/>
                </a:solidFill>
              </a:rPr>
              <a:t>NEGATIVO</a:t>
            </a:r>
            <a:endParaRPr lang="en-US" sz="1000" dirty="0"/>
          </a:p>
        </p:txBody>
      </p:sp>
      <p:sp>
        <p:nvSpPr>
          <p:cNvPr id="8" name="Panel una tinta sobre kraft"/>
          <p:cNvSpPr/>
          <p:nvPr/>
        </p:nvSpPr>
        <p:spPr>
          <a:xfrm>
            <a:off x="6199632" y="2331720"/>
            <a:ext cx="5532120" cy="384048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Logo una tinta sobre kraft" descr="Trazo pesado · una tinta sobre k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2" y="3473780"/>
            <a:ext cx="3749040" cy="1373480"/>
          </a:xfrm>
          <a:prstGeom prst="rect">
            <a:avLst/>
          </a:prstGeom>
        </p:spPr>
      </p:pic>
      <p:sp>
        <p:nvSpPr>
          <p:cNvPr id="10" name="Rótulo"/>
          <p:cNvSpPr txBox="1"/>
          <p:nvPr/>
        </p:nvSpPr>
        <p:spPr>
          <a:xfrm>
            <a:off x="6473952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UNA TINTA SOBRE KRAFT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l Misionero">
  <a:themeElements>
    <a:clrScheme name="Papel Misionero">
      <a:dk1>
        <a:srgbClr val="1F3A2B"/>
      </a:dk1>
      <a:lt1>
        <a:srgbClr val="FFFFFF"/>
      </a:lt1>
      <a:dk2>
        <a:srgbClr val="12241A"/>
      </a:dk2>
      <a:lt2>
        <a:srgbClr val="F2EADB"/>
      </a:lt2>
      <a:accent1>
        <a:srgbClr val="B98A57"/>
      </a:accent1>
      <a:accent2>
        <a:srgbClr val="B0452B"/>
      </a:accent2>
      <a:accent3>
        <a:srgbClr val="8E6538"/>
      </a:accent3>
      <a:accent4>
        <a:srgbClr val="5E7A66"/>
      </a:accent4>
      <a:accent5>
        <a:srgbClr val="D8CDB9"/>
      </a:accent5>
      <a:accent6>
        <a:srgbClr val="64625A"/>
      </a:accent6>
      <a:hlink>
        <a:srgbClr val="B0452B"/>
      </a:hlink>
      <a:folHlink>
        <a:srgbClr val="8E6538"/>
      </a:folHlink>
    </a:clrScheme>
    <a:fontScheme name="Papel Misioner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Papel Misionero · marcas finalistas</dc:title>
  <dc:subject>PptxGenJS Presentation</dc:subject>
  <dc:creator>PptxGenJS</dc:creator>
  <cp:lastModifiedBy>PptxGenJS</cp:lastModifiedBy>
  <cp:revision>1</cp:revision>
  <dcterms:created xsi:type="dcterms:W3CDTF">2026-10-29T18:21:44Z</dcterms:created>
  <dcterms:modified xsi:type="dcterms:W3CDTF">2026-10-29T18:21:44Z</dcterms:modified>
</cp:coreProperties>
</file>