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ee9fdf11-12b6-5cd7-80da-b125bfada7dc}">
          <p14:sldIdLst>
            <p14:sldId id="256"/>
          </p14:sldIdLst>
        </p14:section>
        <p14:section name="Benchmark" id="{227b8bb6-4aab-7a76-6c70-05a20218d4fc}">
          <p14:sldIdLst>
            <p14:sldId id="257"/>
            <p14:sldId id="258"/>
            <p14:sldId id="259"/>
          </p14:sldIdLst>
        </p14:section>
        <p14:section name="La P" id="{7ba5f088-28af-7cec-3f59-d189f22c7999}">
          <p14:sldIdLst>
            <p14:sldId id="260"/>
            <p14:sldId id="261"/>
            <p14:sldId id="262"/>
            <p14:sldId id="263"/>
            <p14:sldId id="264"/>
          </p14:sldIdLst>
        </p14:section>
        <p14:section name="Sellos y contenedores" id="{9f737b1c-962f-8b1f-274b-6e66baebe353}">
          <p14:sldIdLst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Árbol solo" id="{9b4072e4-3814-f0d6-d2b0-fc2b652eebed}">
          <p14:sldIdLst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Sistema" id="{5a554a84-bc48-efde-070d-d88b1805e952}">
          <p14:sldIdLst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monolínea con araucaria (A1), sección La 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con araucaria calada (A4), sección La 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espiral (N1), sección La 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de anillos (N3), sección La 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Araucaria en arco (A3), sección Sellos y contenedores.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Araucaria en sello (A5), sección Sellos y contenedores.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Corte del tronco (N2), sección Sellos y contenedores.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Sello: anillos y pino (N4), sección Sellos y contenedores.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Sello: anillos y araucaria (N5), sección Sellos y contenedores.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Araucaria de ramas (A2), sección Árbol solo.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Araucaria (P4), sección Árbol solo.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Pino (P1), sección Árbol solo.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Pino pleno (P2), sección Árbol solo.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Trazo pesado (P3), sección Árbol solo.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01168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spc="4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56032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931920"/>
            <a:ext cx="87782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20000"/>
              </a:lnSpc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indent="0" marL="0">
              <a:lnSpc>
                <a:spcPct val="12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PUESTA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6868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005840"/>
            <a:ext cx="86868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spc="300" kern="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417320"/>
            <a:ext cx="112471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15000"/>
              </a:lnSpc>
              <a:buNone/>
              <a:defRPr lang="en-US" sz="1500" dirty="0">
                <a:solidFill>
                  <a:schemeClr val="tx1"/>
                </a:solidFill>
              </a:defRPr>
            </a:lvl1pPr>
          </a:lstStyle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</p:txBody>
      </p:sp>
      <p:sp>
        <p:nvSpPr>
          <p:cNvPr id="5" name="Text 0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accent6"/>
                </a:solidFill>
              </a:rPr>
              <a:t>PAPEL MISIONERO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2"/>
                </a:solidFill>
              </a:rPr>
              <a:t>Papel Misionero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Marcas finalistas · negativo y una tinta sobre kraft · Helvetica por niveles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spc="400" kern="0" dirty="0">
                <a:solidFill>
                  <a:schemeClr val="accent1"/>
                </a:solidFill>
              </a:rPr>
              <a:t>PUNTO DE PARTIDA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5603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2"/>
                </a:solidFill>
              </a:rPr>
              <a:t>Benchmark de categoría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93192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accent5"/>
                </a:solidFill>
              </a:rPr>
              <a:t>Relevamos los tableros de referencia de marcas forestales y de madera. El árbol es el signo más usado de la categoría: diferenciarse exige contarlo desde lo que solo Papel Misionero tiene: la P, el papel y Misiones.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Seis recursos que se repiten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0058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6"/>
                </a:solidFill>
              </a:rPr>
              <a:t>BENCHMARK · RECURSOS DE LA CATEGORÍA</a:t>
            </a:r>
            <a:endParaRPr lang="en-US" sz="1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417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Frecuencia estimada sobre el relevamiento de referencias aportadas.</a:t>
            </a:r>
            <a:endParaRPr lang="en-US" sz="1500" dirty="0"/>
          </a:p>
        </p:txBody>
      </p:sp>
      <p:sp>
        <p:nvSpPr>
          <p:cNvPr id="5" name="Recurso Pino de pisos"/>
          <p:cNvSpPr/>
          <p:nvPr/>
        </p:nvSpPr>
        <p:spPr>
          <a:xfrm>
            <a:off x="457200" y="2103120"/>
            <a:ext cx="3611880" cy="192024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o Pino de pisos"/>
          <p:cNvSpPr txBox="1"/>
          <p:nvPr/>
        </p:nvSpPr>
        <p:spPr>
          <a:xfrm>
            <a:off x="685800" y="228600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Pino de pisos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Triángulos o chevrones apilados, solos o en círculo.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Frecuencia: Muy alta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Genérico: se pierde entre cientos de marcas.</a:t>
            </a:r>
            <a:endParaRPr lang="en-US" sz="2000" dirty="0"/>
          </a:p>
        </p:txBody>
      </p:sp>
      <p:sp>
        <p:nvSpPr>
          <p:cNvPr id="7" name="Recurso Letra con árbol"/>
          <p:cNvSpPr/>
          <p:nvPr/>
        </p:nvSpPr>
        <p:spPr>
          <a:xfrm>
            <a:off x="4251960" y="2103120"/>
            <a:ext cx="3611880" cy="192024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o Letra con árbol"/>
          <p:cNvSpPr txBox="1"/>
          <p:nvPr/>
        </p:nvSpPr>
        <p:spPr>
          <a:xfrm>
            <a:off x="4480560" y="228600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bg2"/>
                </a:solidFill>
              </a:rPr>
              <a:t>Letra con árbol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El pino se recorta dentro de una inicial.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Frecuencia: Alta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Recurso fuerte si la letra es propia: la P.</a:t>
            </a:r>
            <a:endParaRPr lang="en-US" sz="2000" dirty="0"/>
          </a:p>
        </p:txBody>
      </p:sp>
      <p:sp>
        <p:nvSpPr>
          <p:cNvPr id="9" name="Recurso Líneas paralelas"/>
          <p:cNvSpPr/>
          <p:nvPr/>
        </p:nvSpPr>
        <p:spPr>
          <a:xfrm>
            <a:off x="8046720" y="2103120"/>
            <a:ext cx="3611880" cy="192024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o Líneas paralelas"/>
          <p:cNvSpPr txBox="1"/>
          <p:nvPr/>
        </p:nvSpPr>
        <p:spPr>
          <a:xfrm>
            <a:off x="8275320" y="228600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Líneas paralelas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El árbol se dibuja con trazos o hebras.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Frecuencia: Media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Elegante, pero se empasta en tamaños chicos.</a:t>
            </a:r>
            <a:endParaRPr lang="en-US" sz="2000" dirty="0"/>
          </a:p>
        </p:txBody>
      </p:sp>
      <p:sp>
        <p:nvSpPr>
          <p:cNvPr id="11" name="Recurso Insignia vintage"/>
          <p:cNvSpPr/>
          <p:nvPr/>
        </p:nvSpPr>
        <p:spPr>
          <a:xfrm>
            <a:off x="457200" y="4206240"/>
            <a:ext cx="3611880" cy="192024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o Insignia vintage"/>
          <p:cNvSpPr txBox="1"/>
          <p:nvPr/>
        </p:nvSpPr>
        <p:spPr>
          <a:xfrm>
            <a:off x="685800" y="438912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Insignia vintage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6"/>
                </a:solidFill>
              </a:rPr>
              <a:t>Escudos y grabados con estética de cabaña.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Frecuencia: Media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Ajena a una industria papelera moderna.</a:t>
            </a:r>
            <a:endParaRPr lang="en-US" sz="2000" dirty="0"/>
          </a:p>
        </p:txBody>
      </p:sp>
      <p:sp>
        <p:nvSpPr>
          <p:cNvPr id="13" name="Recurso Árbol orgánico"/>
          <p:cNvSpPr/>
          <p:nvPr/>
        </p:nvSpPr>
        <p:spPr>
          <a:xfrm>
            <a:off x="4251960" y="4206240"/>
            <a:ext cx="3611880" cy="192024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o Árbol orgánico"/>
          <p:cNvSpPr txBox="1"/>
          <p:nvPr/>
        </p:nvSpPr>
        <p:spPr>
          <a:xfrm>
            <a:off x="4480560" y="438912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bg2"/>
                </a:solidFill>
              </a:rPr>
              <a:t>Árbol orgánico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Copas redondeadas y ramas de trazo afinado.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Frecuencia: Alta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Calidez y oficio; el tono que adoptamos.</a:t>
            </a:r>
            <a:endParaRPr lang="en-US" sz="2000" dirty="0"/>
          </a:p>
        </p:txBody>
      </p:sp>
      <p:sp>
        <p:nvSpPr>
          <p:cNvPr id="15" name="Recurso Piña y anillos"/>
          <p:cNvSpPr/>
          <p:nvPr/>
        </p:nvSpPr>
        <p:spPr>
          <a:xfrm>
            <a:off x="8046720" y="4206240"/>
            <a:ext cx="3611880" cy="192024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o Piña y anillos"/>
          <p:cNvSpPr txBox="1"/>
          <p:nvPr/>
        </p:nvSpPr>
        <p:spPr>
          <a:xfrm>
            <a:off x="8275320" y="438912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bg2"/>
                </a:solidFill>
              </a:rPr>
              <a:t>Piña y anillos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La semilla o el corte del tronco como signo.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Frecuencia: Baja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Espacio poco explorado: territorio propio.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Dónde se ubican las propuestas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0058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6"/>
                </a:solidFill>
              </a:rPr>
              <a:t>BENCHMARK · MAPA DE POSICIONAMIENTO</a:t>
            </a:r>
            <a:endParaRPr lang="en-US" sz="1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417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La mayoría de la categoría se agrupa en lo literal y genérico. Las tres familias de propuestas ocupan el cuadrante propio de Papel Misionero.</a:t>
            </a:r>
            <a:endParaRPr lang="en-US" sz="1500" dirty="0"/>
          </a:p>
        </p:txBody>
      </p:sp>
      <p:sp>
        <p:nvSpPr>
          <p:cNvPr id="5" name="Mapa"/>
          <p:cNvSpPr/>
          <p:nvPr/>
        </p:nvSpPr>
        <p:spPr>
          <a:xfrm>
            <a:off x="2103120" y="2286000"/>
            <a:ext cx="8595360" cy="37033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2286000"/>
            <a:ext cx="0" cy="370332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03120" y="4137660"/>
            <a:ext cx="8595360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03120" y="6062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accent6"/>
                </a:solidFill>
              </a:rPr>
              <a:t>GENÉRICO DE LA CATEGORÍA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955280" y="6062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chemeClr val="accent6"/>
                </a:solidFill>
              </a:rPr>
              <a:t>PROPIO DE PAPEL MISIONERO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286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chemeClr val="accent6"/>
                </a:solidFill>
              </a:rPr>
              <a:t>ABSTRACTO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715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chemeClr val="accent6"/>
                </a:solidFill>
              </a:rPr>
              <a:t>LITERAL</a:t>
            </a:r>
            <a:endParaRPr lang="en-US" sz="1100" dirty="0"/>
          </a:p>
        </p:txBody>
      </p:sp>
      <p:sp>
        <p:nvSpPr>
          <p:cNvPr id="12" name="Punto Pino de pisos"/>
          <p:cNvSpPr/>
          <p:nvPr/>
        </p:nvSpPr>
        <p:spPr>
          <a:xfrm>
            <a:off x="3033979" y="5296205"/>
            <a:ext cx="201168" cy="20116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Rótulo Pino de pisos"/>
          <p:cNvSpPr txBox="1"/>
          <p:nvPr/>
        </p:nvSpPr>
        <p:spPr>
          <a:xfrm>
            <a:off x="3308299" y="5241341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Pino de pisos</a:t>
            </a:r>
            <a:endParaRPr lang="en-US" sz="1300" dirty="0"/>
          </a:p>
        </p:txBody>
      </p:sp>
      <p:sp>
        <p:nvSpPr>
          <p:cNvPr id="14" name="Punto Insignia vintage"/>
          <p:cNvSpPr/>
          <p:nvPr/>
        </p:nvSpPr>
        <p:spPr>
          <a:xfrm>
            <a:off x="3893515" y="4629607"/>
            <a:ext cx="201168" cy="20116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Rótulo Insignia vintage"/>
          <p:cNvSpPr txBox="1"/>
          <p:nvPr/>
        </p:nvSpPr>
        <p:spPr>
          <a:xfrm>
            <a:off x="4167835" y="4574743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Insignia vintage</a:t>
            </a:r>
            <a:endParaRPr lang="en-US" sz="1300" dirty="0"/>
          </a:p>
        </p:txBody>
      </p:sp>
      <p:sp>
        <p:nvSpPr>
          <p:cNvPr id="16" name="Punto Letra con árbol"/>
          <p:cNvSpPr/>
          <p:nvPr/>
        </p:nvSpPr>
        <p:spPr>
          <a:xfrm>
            <a:off x="5096866" y="4259275"/>
            <a:ext cx="201168" cy="20116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Rótulo Letra con árbol"/>
          <p:cNvSpPr txBox="1"/>
          <p:nvPr/>
        </p:nvSpPr>
        <p:spPr>
          <a:xfrm>
            <a:off x="5371186" y="4204411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Letra con árbol</a:t>
            </a:r>
            <a:endParaRPr lang="en-US" sz="1300" dirty="0"/>
          </a:p>
        </p:txBody>
      </p:sp>
      <p:sp>
        <p:nvSpPr>
          <p:cNvPr id="18" name="Punto Líneas paralelas"/>
          <p:cNvSpPr/>
          <p:nvPr/>
        </p:nvSpPr>
        <p:spPr>
          <a:xfrm>
            <a:off x="3721608" y="3296412"/>
            <a:ext cx="201168" cy="20116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Rótulo Líneas paralelas"/>
          <p:cNvSpPr txBox="1"/>
          <p:nvPr/>
        </p:nvSpPr>
        <p:spPr>
          <a:xfrm>
            <a:off x="3995928" y="324154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Líneas paralelas</a:t>
            </a:r>
            <a:endParaRPr lang="en-US" sz="1300" dirty="0"/>
          </a:p>
        </p:txBody>
      </p:sp>
      <p:sp>
        <p:nvSpPr>
          <p:cNvPr id="20" name="Punto Árbol orgánico"/>
          <p:cNvSpPr/>
          <p:nvPr/>
        </p:nvSpPr>
        <p:spPr>
          <a:xfrm>
            <a:off x="2690165" y="4037076"/>
            <a:ext cx="201168" cy="20116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Rótulo Árbol orgánico"/>
          <p:cNvSpPr txBox="1"/>
          <p:nvPr/>
        </p:nvSpPr>
        <p:spPr>
          <a:xfrm>
            <a:off x="2964485" y="398221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Árbol orgánico</a:t>
            </a:r>
            <a:endParaRPr lang="en-US" sz="1300" dirty="0"/>
          </a:p>
        </p:txBody>
      </p:sp>
      <p:sp>
        <p:nvSpPr>
          <p:cNvPr id="22" name="Punto Árbol solo"/>
          <p:cNvSpPr/>
          <p:nvPr/>
        </p:nvSpPr>
        <p:spPr>
          <a:xfrm>
            <a:off x="6770218" y="4806086"/>
            <a:ext cx="292608" cy="29260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Rótulo Árbol solo"/>
          <p:cNvSpPr txBox="1"/>
          <p:nvPr/>
        </p:nvSpPr>
        <p:spPr>
          <a:xfrm>
            <a:off x="7135978" y="479694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Árbol solo</a:t>
            </a:r>
            <a:endParaRPr lang="en-US" sz="1500" dirty="0"/>
          </a:p>
        </p:txBody>
      </p:sp>
      <p:sp>
        <p:nvSpPr>
          <p:cNvPr id="24" name="Punto Sellos y contenedores"/>
          <p:cNvSpPr/>
          <p:nvPr/>
        </p:nvSpPr>
        <p:spPr>
          <a:xfrm>
            <a:off x="7285939" y="3472891"/>
            <a:ext cx="292608" cy="29260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5" name="Rótulo Sellos y contenedores"/>
          <p:cNvSpPr txBox="1"/>
          <p:nvPr/>
        </p:nvSpPr>
        <p:spPr>
          <a:xfrm>
            <a:off x="7651699" y="3463747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Sellos y contenedores</a:t>
            </a:r>
            <a:endParaRPr lang="en-US" sz="1500" dirty="0"/>
          </a:p>
        </p:txBody>
      </p:sp>
      <p:sp>
        <p:nvSpPr>
          <p:cNvPr id="26" name="Punto La P"/>
          <p:cNvSpPr/>
          <p:nvPr/>
        </p:nvSpPr>
        <p:spPr>
          <a:xfrm>
            <a:off x="8661197" y="2806294"/>
            <a:ext cx="292608" cy="29260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Rótulo La P"/>
          <p:cNvSpPr txBox="1"/>
          <p:nvPr/>
        </p:nvSpPr>
        <p:spPr>
          <a:xfrm>
            <a:off x="9026957" y="279715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 P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spc="400" kern="0" dirty="0">
                <a:solidFill>
                  <a:schemeClr val="accent1"/>
                </a:solidFill>
              </a:rPr>
              <a:t>SECCIÓN 1 · 4 PROPUESTAS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5603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2"/>
                </a:solidFill>
              </a:rPr>
              <a:t>La P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93192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accent5"/>
                </a:solidFill>
              </a:rPr>
              <a:t>La inicial como contenedor del origen. La P de Papel abraza el árbol, la bobina o la madera: el nombre y el territorio se leen en un mismo signo, propio e imposible de confundir con otras marcas forestales.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 monolínea con araucaria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0058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6"/>
                </a:solidFill>
              </a:rPr>
              <a:t>LA P · A1</a:t>
            </a:r>
            <a:endParaRPr lang="en-US" sz="1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417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Una sola línea dibuja la P y abraza a la araucaria, el árbol emblema de Misiones. El ojo de la letra se cierra sobre el tronco: marca y territorio en un mismo gesto. Liviana y elegante para la comunicación institucional.</a:t>
            </a:r>
            <a:endParaRPr lang="en-US" sz="1500" dirty="0"/>
          </a:p>
        </p:txBody>
      </p:sp>
      <p:sp>
        <p:nvSpPr>
          <p:cNvPr id="5" name="Panel negativo"/>
          <p:cNvSpPr/>
          <p:nvPr/>
        </p:nvSpPr>
        <p:spPr>
          <a:xfrm>
            <a:off x="457200" y="2331720"/>
            <a:ext cx="5532120" cy="3840480"/>
          </a:xfrm>
          <a:prstGeom prst="roundRect">
            <a:avLst>
              <a:gd name="adj" fmla="val 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Logo negativo" descr="P monolínea con araucaria · neg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3488846"/>
            <a:ext cx="3749040" cy="1343349"/>
          </a:xfrm>
          <a:prstGeom prst="rect">
            <a:avLst/>
          </a:prstGeom>
        </p:spPr>
      </p:pic>
      <p:sp>
        <p:nvSpPr>
          <p:cNvPr id="7" name="Rótulo"/>
          <p:cNvSpPr txBox="1"/>
          <p:nvPr/>
        </p:nvSpPr>
        <p:spPr>
          <a:xfrm>
            <a:off x="731520" y="5715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accent5"/>
                </a:solidFill>
              </a:rPr>
              <a:t>NEGATIVO</a:t>
            </a:r>
            <a:endParaRPr lang="en-US" sz="1000" dirty="0"/>
          </a:p>
        </p:txBody>
      </p:sp>
      <p:sp>
        <p:nvSpPr>
          <p:cNvPr id="8" name="Panel una tinta sobre kraft"/>
          <p:cNvSpPr/>
          <p:nvPr/>
        </p:nvSpPr>
        <p:spPr>
          <a:xfrm>
            <a:off x="6199632" y="2331720"/>
            <a:ext cx="5532120" cy="3840480"/>
          </a:xfrm>
          <a:prstGeom prst="roundRect">
            <a:avLst>
              <a:gd name="adj" fmla="val 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Logo una tinta sobre kraft" descr="P monolínea con araucaria · una tinta sobre kra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172" y="3488846"/>
            <a:ext cx="3749040" cy="1343349"/>
          </a:xfrm>
          <a:prstGeom prst="rect">
            <a:avLst/>
          </a:prstGeom>
        </p:spPr>
      </p:pic>
      <p:sp>
        <p:nvSpPr>
          <p:cNvPr id="10" name="Rótulo"/>
          <p:cNvSpPr txBox="1"/>
          <p:nvPr/>
        </p:nvSpPr>
        <p:spPr>
          <a:xfrm>
            <a:off x="6473952" y="5715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tx2"/>
                </a:solidFill>
              </a:rPr>
              <a:t>UNA TINTA SOBRE KRAFT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 con araucaria calada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0058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6"/>
                </a:solidFill>
              </a:rPr>
              <a:t>LA P · A4</a:t>
            </a:r>
            <a:endParaRPr lang="en-US" sz="1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417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La P de cuerpo pleno recorta la araucaria en negativo. Máxima pregnancia y resistencia en impresión flexográfica: funciona como sello sobre bolsas y bobinas.</a:t>
            </a:r>
            <a:endParaRPr lang="en-US" sz="1500" dirty="0"/>
          </a:p>
        </p:txBody>
      </p:sp>
      <p:sp>
        <p:nvSpPr>
          <p:cNvPr id="5" name="Panel negativo"/>
          <p:cNvSpPr/>
          <p:nvPr/>
        </p:nvSpPr>
        <p:spPr>
          <a:xfrm>
            <a:off x="457200" y="2331720"/>
            <a:ext cx="5532120" cy="3840480"/>
          </a:xfrm>
          <a:prstGeom prst="roundRect">
            <a:avLst>
              <a:gd name="adj" fmla="val 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Logo negativo" descr="P con araucaria calada · neg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3488846"/>
            <a:ext cx="3749040" cy="1343349"/>
          </a:xfrm>
          <a:prstGeom prst="rect">
            <a:avLst/>
          </a:prstGeom>
        </p:spPr>
      </p:pic>
      <p:sp>
        <p:nvSpPr>
          <p:cNvPr id="7" name="Rótulo"/>
          <p:cNvSpPr txBox="1"/>
          <p:nvPr/>
        </p:nvSpPr>
        <p:spPr>
          <a:xfrm>
            <a:off x="731520" y="5715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accent5"/>
                </a:solidFill>
              </a:rPr>
              <a:t>NEGATIVO</a:t>
            </a:r>
            <a:endParaRPr lang="en-US" sz="1000" dirty="0"/>
          </a:p>
        </p:txBody>
      </p:sp>
      <p:sp>
        <p:nvSpPr>
          <p:cNvPr id="8" name="Panel una tinta sobre kraft"/>
          <p:cNvSpPr/>
          <p:nvPr/>
        </p:nvSpPr>
        <p:spPr>
          <a:xfrm>
            <a:off x="6199632" y="2331720"/>
            <a:ext cx="5532120" cy="3840480"/>
          </a:xfrm>
          <a:prstGeom prst="roundRect">
            <a:avLst>
              <a:gd name="adj" fmla="val 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Logo una tinta sobre kraft" descr="P con araucaria calada · una tinta sobre kra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172" y="3488846"/>
            <a:ext cx="3749040" cy="1343349"/>
          </a:xfrm>
          <a:prstGeom prst="rect">
            <a:avLst/>
          </a:prstGeom>
        </p:spPr>
      </p:pic>
      <p:sp>
        <p:nvSpPr>
          <p:cNvPr id="10" name="Rótulo"/>
          <p:cNvSpPr txBox="1"/>
          <p:nvPr/>
        </p:nvSpPr>
        <p:spPr>
          <a:xfrm>
            <a:off x="6473952" y="5715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tx2"/>
                </a:solidFill>
              </a:rPr>
              <a:t>UNA TINTA SOBRE KRAFT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 espiral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0058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6"/>
                </a:solidFill>
              </a:rPr>
              <a:t>LA P · N1</a:t>
            </a:r>
            <a:endParaRPr lang="en-US" sz="1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417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El pliego se enrolla como una bobina y baja para formar la P. Habla del producto, el papel en movimiento, con un único trazo continuo, simple y memorable.</a:t>
            </a:r>
            <a:endParaRPr lang="en-US" sz="1500" dirty="0"/>
          </a:p>
        </p:txBody>
      </p:sp>
      <p:sp>
        <p:nvSpPr>
          <p:cNvPr id="5" name="Panel negativo"/>
          <p:cNvSpPr/>
          <p:nvPr/>
        </p:nvSpPr>
        <p:spPr>
          <a:xfrm>
            <a:off x="457200" y="2331720"/>
            <a:ext cx="5532120" cy="3840480"/>
          </a:xfrm>
          <a:prstGeom prst="roundRect">
            <a:avLst>
              <a:gd name="adj" fmla="val 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Logo negativo" descr="P espiral · neg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3488846"/>
            <a:ext cx="3749040" cy="1343349"/>
          </a:xfrm>
          <a:prstGeom prst="rect">
            <a:avLst/>
          </a:prstGeom>
        </p:spPr>
      </p:pic>
      <p:sp>
        <p:nvSpPr>
          <p:cNvPr id="7" name="Rótulo"/>
          <p:cNvSpPr txBox="1"/>
          <p:nvPr/>
        </p:nvSpPr>
        <p:spPr>
          <a:xfrm>
            <a:off x="731520" y="5715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accent5"/>
                </a:solidFill>
              </a:rPr>
              <a:t>NEGATIVO</a:t>
            </a:r>
            <a:endParaRPr lang="en-US" sz="1000" dirty="0"/>
          </a:p>
        </p:txBody>
      </p:sp>
      <p:sp>
        <p:nvSpPr>
          <p:cNvPr id="8" name="Panel una tinta sobre kraft"/>
          <p:cNvSpPr/>
          <p:nvPr/>
        </p:nvSpPr>
        <p:spPr>
          <a:xfrm>
            <a:off x="6199632" y="2331720"/>
            <a:ext cx="5532120" cy="3840480"/>
          </a:xfrm>
          <a:prstGeom prst="roundRect">
            <a:avLst>
              <a:gd name="adj" fmla="val 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Logo una tinta sobre kraft" descr="P espiral · una tinta sobre kra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172" y="3488846"/>
            <a:ext cx="3749040" cy="1343349"/>
          </a:xfrm>
          <a:prstGeom prst="rect">
            <a:avLst/>
          </a:prstGeom>
        </p:spPr>
      </p:pic>
      <p:sp>
        <p:nvSpPr>
          <p:cNvPr id="10" name="Rótulo"/>
          <p:cNvSpPr txBox="1"/>
          <p:nvPr/>
        </p:nvSpPr>
        <p:spPr>
          <a:xfrm>
            <a:off x="6473952" y="5715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tx2"/>
                </a:solidFill>
              </a:rPr>
              <a:t>UNA TINTA SOBRE KRAFT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 de anillos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0058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6"/>
                </a:solidFill>
              </a:rPr>
              <a:t>LA P · N3</a:t>
            </a:r>
            <a:endParaRPr lang="en-US" sz="1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417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El ojo de la P es un corte de tronco: los anillos de crecimiento cuentan tiempo, madera y origen. Une la inicial con la materia prima.</a:t>
            </a:r>
            <a:endParaRPr lang="en-US" sz="1500" dirty="0"/>
          </a:p>
        </p:txBody>
      </p:sp>
      <p:sp>
        <p:nvSpPr>
          <p:cNvPr id="5" name="Panel negativo"/>
          <p:cNvSpPr/>
          <p:nvPr/>
        </p:nvSpPr>
        <p:spPr>
          <a:xfrm>
            <a:off x="457200" y="2331720"/>
            <a:ext cx="5532120" cy="3840480"/>
          </a:xfrm>
          <a:prstGeom prst="roundRect">
            <a:avLst>
              <a:gd name="adj" fmla="val 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Logo negativo" descr="P de anillos · neg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3488846"/>
            <a:ext cx="3749040" cy="1343349"/>
          </a:xfrm>
          <a:prstGeom prst="rect">
            <a:avLst/>
          </a:prstGeom>
        </p:spPr>
      </p:pic>
      <p:sp>
        <p:nvSpPr>
          <p:cNvPr id="7" name="Rótulo"/>
          <p:cNvSpPr txBox="1"/>
          <p:nvPr/>
        </p:nvSpPr>
        <p:spPr>
          <a:xfrm>
            <a:off x="731520" y="5715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accent5"/>
                </a:solidFill>
              </a:rPr>
              <a:t>NEGATIVO</a:t>
            </a:r>
            <a:endParaRPr lang="en-US" sz="1000" dirty="0"/>
          </a:p>
        </p:txBody>
      </p:sp>
      <p:sp>
        <p:nvSpPr>
          <p:cNvPr id="8" name="Panel una tinta sobre kraft"/>
          <p:cNvSpPr/>
          <p:nvPr/>
        </p:nvSpPr>
        <p:spPr>
          <a:xfrm>
            <a:off x="6199632" y="2331720"/>
            <a:ext cx="5532120" cy="3840480"/>
          </a:xfrm>
          <a:prstGeom prst="roundRect">
            <a:avLst>
              <a:gd name="adj" fmla="val 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Logo una tinta sobre kraft" descr="P de anillos · una tinta sobre kra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172" y="3488846"/>
            <a:ext cx="3749040" cy="1343349"/>
          </a:xfrm>
          <a:prstGeom prst="rect">
            <a:avLst/>
          </a:prstGeom>
        </p:spPr>
      </p:pic>
      <p:sp>
        <p:nvSpPr>
          <p:cNvPr id="10" name="Rótulo"/>
          <p:cNvSpPr txBox="1"/>
          <p:nvPr/>
        </p:nvSpPr>
        <p:spPr>
          <a:xfrm>
            <a:off x="6473952" y="5715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tx2"/>
                </a:solidFill>
              </a:rPr>
              <a:t>UNA TINTA SOBRE KRAFT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spc="400" kern="0" dirty="0">
                <a:solidFill>
                  <a:schemeClr val="accent1"/>
                </a:solidFill>
              </a:rPr>
              <a:t>SECCIÓN 2 · 5 PROPUESTAS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5603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2"/>
                </a:solidFill>
              </a:rPr>
              <a:t>Sellos y contenedores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93192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accent5"/>
                </a:solidFill>
              </a:rPr>
              <a:t>Formas cerradas que funcionan como garantía de procedencia. Son las más compactas y resistentes: se leen en tamaños mínimos, se estampan sobre kraft y resuelven perfiles digitales sin perder identidad.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Araucaria en arco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0058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6"/>
                </a:solidFill>
              </a:rPr>
              <a:t>SELLOS Y CONTENEDORES · A3</a:t>
            </a:r>
            <a:endParaRPr lang="en-US" sz="1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417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La araucaria se recorta dentro de un arco, como una ventana a la selva. Compacta y legible a 16 px: la mejor versión para aplicaciones pequeñas.</a:t>
            </a:r>
            <a:endParaRPr lang="en-US" sz="1500" dirty="0"/>
          </a:p>
        </p:txBody>
      </p:sp>
      <p:sp>
        <p:nvSpPr>
          <p:cNvPr id="5" name="Panel negativo"/>
          <p:cNvSpPr/>
          <p:nvPr/>
        </p:nvSpPr>
        <p:spPr>
          <a:xfrm>
            <a:off x="457200" y="2331720"/>
            <a:ext cx="5532120" cy="3840480"/>
          </a:xfrm>
          <a:prstGeom prst="roundRect">
            <a:avLst>
              <a:gd name="adj" fmla="val 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Logo negativo" descr="Araucaria en arco · neg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3488846"/>
            <a:ext cx="3749040" cy="1343349"/>
          </a:xfrm>
          <a:prstGeom prst="rect">
            <a:avLst/>
          </a:prstGeom>
        </p:spPr>
      </p:pic>
      <p:sp>
        <p:nvSpPr>
          <p:cNvPr id="7" name="Rótulo"/>
          <p:cNvSpPr txBox="1"/>
          <p:nvPr/>
        </p:nvSpPr>
        <p:spPr>
          <a:xfrm>
            <a:off x="731520" y="5715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accent5"/>
                </a:solidFill>
              </a:rPr>
              <a:t>NEGATIVO</a:t>
            </a:r>
            <a:endParaRPr lang="en-US" sz="1000" dirty="0"/>
          </a:p>
        </p:txBody>
      </p:sp>
      <p:sp>
        <p:nvSpPr>
          <p:cNvPr id="8" name="Panel una tinta sobre kraft"/>
          <p:cNvSpPr/>
          <p:nvPr/>
        </p:nvSpPr>
        <p:spPr>
          <a:xfrm>
            <a:off x="6199632" y="2331720"/>
            <a:ext cx="5532120" cy="3840480"/>
          </a:xfrm>
          <a:prstGeom prst="roundRect">
            <a:avLst>
              <a:gd name="adj" fmla="val 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Logo una tinta sobre kraft" descr="Araucaria en arco · una tinta sobre kra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172" y="3488846"/>
            <a:ext cx="3749040" cy="1343349"/>
          </a:xfrm>
          <a:prstGeom prst="rect">
            <a:avLst/>
          </a:prstGeom>
        </p:spPr>
      </p:pic>
      <p:sp>
        <p:nvSpPr>
          <p:cNvPr id="10" name="Rótulo"/>
          <p:cNvSpPr txBox="1"/>
          <p:nvPr/>
        </p:nvSpPr>
        <p:spPr>
          <a:xfrm>
            <a:off x="6473952" y="5715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tx2"/>
                </a:solidFill>
              </a:rPr>
              <a:t>UNA TINTA SOBRE KRAFT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Araucaria en sello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0058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6"/>
                </a:solidFill>
              </a:rPr>
              <a:t>SELLOS Y CONTENEDORES · A5</a:t>
            </a:r>
            <a:endParaRPr lang="en-US" sz="1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417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El árbol calado en un círculo: un sello de procedencia, directo y versátil, pensado para estamparse sobre kraft.</a:t>
            </a:r>
            <a:endParaRPr lang="en-US" sz="1500" dirty="0"/>
          </a:p>
        </p:txBody>
      </p:sp>
      <p:sp>
        <p:nvSpPr>
          <p:cNvPr id="5" name="Panel negativo"/>
          <p:cNvSpPr/>
          <p:nvPr/>
        </p:nvSpPr>
        <p:spPr>
          <a:xfrm>
            <a:off x="457200" y="2331720"/>
            <a:ext cx="5532120" cy="3840480"/>
          </a:xfrm>
          <a:prstGeom prst="roundRect">
            <a:avLst>
              <a:gd name="adj" fmla="val 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Logo negativo" descr="Araucaria en sello · neg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3488846"/>
            <a:ext cx="3749040" cy="1343349"/>
          </a:xfrm>
          <a:prstGeom prst="rect">
            <a:avLst/>
          </a:prstGeom>
        </p:spPr>
      </p:pic>
      <p:sp>
        <p:nvSpPr>
          <p:cNvPr id="7" name="Rótulo"/>
          <p:cNvSpPr txBox="1"/>
          <p:nvPr/>
        </p:nvSpPr>
        <p:spPr>
          <a:xfrm>
            <a:off x="731520" y="5715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accent5"/>
                </a:solidFill>
              </a:rPr>
              <a:t>NEGATIVO</a:t>
            </a:r>
            <a:endParaRPr lang="en-US" sz="1000" dirty="0"/>
          </a:p>
        </p:txBody>
      </p:sp>
      <p:sp>
        <p:nvSpPr>
          <p:cNvPr id="8" name="Panel una tinta sobre kraft"/>
          <p:cNvSpPr/>
          <p:nvPr/>
        </p:nvSpPr>
        <p:spPr>
          <a:xfrm>
            <a:off x="6199632" y="2331720"/>
            <a:ext cx="5532120" cy="3840480"/>
          </a:xfrm>
          <a:prstGeom prst="roundRect">
            <a:avLst>
              <a:gd name="adj" fmla="val 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Logo una tinta sobre kraft" descr="Araucaria en sello · una tinta sobre kra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172" y="3488846"/>
            <a:ext cx="3749040" cy="1343349"/>
          </a:xfrm>
          <a:prstGeom prst="rect">
            <a:avLst/>
          </a:prstGeom>
        </p:spPr>
      </p:pic>
      <p:sp>
        <p:nvSpPr>
          <p:cNvPr id="10" name="Rótulo"/>
          <p:cNvSpPr txBox="1"/>
          <p:nvPr/>
        </p:nvSpPr>
        <p:spPr>
          <a:xfrm>
            <a:off x="6473952" y="5715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tx2"/>
                </a:solidFill>
              </a:rPr>
              <a:t>UNA TINTA SOBRE KRAFT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Corte del tronco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0058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6"/>
                </a:solidFill>
              </a:rPr>
              <a:t>SELLOS Y CONTENEDORES · N2</a:t>
            </a:r>
            <a:endParaRPr lang="en-US" sz="1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417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Los anillos de crecimiento de un tronco real, levemente descentrados. Un símbolo abstracto y propio de la industria forestal, sin recurrir al dibujo del árbol.</a:t>
            </a:r>
            <a:endParaRPr lang="en-US" sz="1500" dirty="0"/>
          </a:p>
        </p:txBody>
      </p:sp>
      <p:sp>
        <p:nvSpPr>
          <p:cNvPr id="5" name="Panel negativo"/>
          <p:cNvSpPr/>
          <p:nvPr/>
        </p:nvSpPr>
        <p:spPr>
          <a:xfrm>
            <a:off x="457200" y="2331720"/>
            <a:ext cx="5532120" cy="3840480"/>
          </a:xfrm>
          <a:prstGeom prst="roundRect">
            <a:avLst>
              <a:gd name="adj" fmla="val 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Logo negativo" descr="Corte del tronco · neg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3488846"/>
            <a:ext cx="3749040" cy="1343349"/>
          </a:xfrm>
          <a:prstGeom prst="rect">
            <a:avLst/>
          </a:prstGeom>
        </p:spPr>
      </p:pic>
      <p:sp>
        <p:nvSpPr>
          <p:cNvPr id="7" name="Rótulo"/>
          <p:cNvSpPr txBox="1"/>
          <p:nvPr/>
        </p:nvSpPr>
        <p:spPr>
          <a:xfrm>
            <a:off x="731520" y="5715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accent5"/>
                </a:solidFill>
              </a:rPr>
              <a:t>NEGATIVO</a:t>
            </a:r>
            <a:endParaRPr lang="en-US" sz="1000" dirty="0"/>
          </a:p>
        </p:txBody>
      </p:sp>
      <p:sp>
        <p:nvSpPr>
          <p:cNvPr id="8" name="Panel una tinta sobre kraft"/>
          <p:cNvSpPr/>
          <p:nvPr/>
        </p:nvSpPr>
        <p:spPr>
          <a:xfrm>
            <a:off x="6199632" y="2331720"/>
            <a:ext cx="5532120" cy="3840480"/>
          </a:xfrm>
          <a:prstGeom prst="roundRect">
            <a:avLst>
              <a:gd name="adj" fmla="val 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Logo una tinta sobre kraft" descr="Corte del tronco · una tinta sobre kra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172" y="3488846"/>
            <a:ext cx="3749040" cy="1343349"/>
          </a:xfrm>
          <a:prstGeom prst="rect">
            <a:avLst/>
          </a:prstGeom>
        </p:spPr>
      </p:pic>
      <p:sp>
        <p:nvSpPr>
          <p:cNvPr id="10" name="Rótulo"/>
          <p:cNvSpPr txBox="1"/>
          <p:nvPr/>
        </p:nvSpPr>
        <p:spPr>
          <a:xfrm>
            <a:off x="6473952" y="5715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tx2"/>
                </a:solidFill>
              </a:rPr>
              <a:t>UNA TINTA SOBRE KRAFT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Sello: anillos y pino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0058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6"/>
                </a:solidFill>
              </a:rPr>
              <a:t>SELLOS Y CONTENEDORES · N4</a:t>
            </a:r>
            <a:endParaRPr lang="en-US" sz="1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417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El pino, la especie que se cultiva y se transforma en papel, en el corazón del tronco. Cuenta el ciclo completo: bosque, madera y fibra.</a:t>
            </a:r>
            <a:endParaRPr lang="en-US" sz="1500" dirty="0"/>
          </a:p>
        </p:txBody>
      </p:sp>
      <p:sp>
        <p:nvSpPr>
          <p:cNvPr id="5" name="Panel negativo"/>
          <p:cNvSpPr/>
          <p:nvPr/>
        </p:nvSpPr>
        <p:spPr>
          <a:xfrm>
            <a:off x="457200" y="2331720"/>
            <a:ext cx="5532120" cy="3840480"/>
          </a:xfrm>
          <a:prstGeom prst="roundRect">
            <a:avLst>
              <a:gd name="adj" fmla="val 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Logo negativo" descr="Sello: anillos y pino · neg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3488846"/>
            <a:ext cx="3749040" cy="1343349"/>
          </a:xfrm>
          <a:prstGeom prst="rect">
            <a:avLst/>
          </a:prstGeom>
        </p:spPr>
      </p:pic>
      <p:sp>
        <p:nvSpPr>
          <p:cNvPr id="7" name="Rótulo"/>
          <p:cNvSpPr txBox="1"/>
          <p:nvPr/>
        </p:nvSpPr>
        <p:spPr>
          <a:xfrm>
            <a:off x="731520" y="5715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accent5"/>
                </a:solidFill>
              </a:rPr>
              <a:t>NEGATIVO</a:t>
            </a:r>
            <a:endParaRPr lang="en-US" sz="1000" dirty="0"/>
          </a:p>
        </p:txBody>
      </p:sp>
      <p:sp>
        <p:nvSpPr>
          <p:cNvPr id="8" name="Panel una tinta sobre kraft"/>
          <p:cNvSpPr/>
          <p:nvPr/>
        </p:nvSpPr>
        <p:spPr>
          <a:xfrm>
            <a:off x="6199632" y="2331720"/>
            <a:ext cx="5532120" cy="3840480"/>
          </a:xfrm>
          <a:prstGeom prst="roundRect">
            <a:avLst>
              <a:gd name="adj" fmla="val 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Logo una tinta sobre kraft" descr="Sello: anillos y pino · una tinta sobre kra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172" y="3488846"/>
            <a:ext cx="3749040" cy="1343349"/>
          </a:xfrm>
          <a:prstGeom prst="rect">
            <a:avLst/>
          </a:prstGeom>
        </p:spPr>
      </p:pic>
      <p:sp>
        <p:nvSpPr>
          <p:cNvPr id="10" name="Rótulo"/>
          <p:cNvSpPr txBox="1"/>
          <p:nvPr/>
        </p:nvSpPr>
        <p:spPr>
          <a:xfrm>
            <a:off x="6473952" y="5715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tx2"/>
                </a:solidFill>
              </a:rPr>
              <a:t>UNA TINTA SOBRE KRAFT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Sello: anillos y araucaria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0058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6"/>
                </a:solidFill>
              </a:rPr>
              <a:t>SELLOS Y CONTENEDORES · N5</a:t>
            </a:r>
            <a:endParaRPr lang="en-US" sz="1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417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La misma construcción con la araucaria: el corte de la madera protege al árbol nativo, un mensaje de conservación de la selva paranaense.</a:t>
            </a:r>
            <a:endParaRPr lang="en-US" sz="1500" dirty="0"/>
          </a:p>
        </p:txBody>
      </p:sp>
      <p:sp>
        <p:nvSpPr>
          <p:cNvPr id="5" name="Panel negativo"/>
          <p:cNvSpPr/>
          <p:nvPr/>
        </p:nvSpPr>
        <p:spPr>
          <a:xfrm>
            <a:off x="457200" y="2331720"/>
            <a:ext cx="5532120" cy="3840480"/>
          </a:xfrm>
          <a:prstGeom prst="roundRect">
            <a:avLst>
              <a:gd name="adj" fmla="val 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Logo negativo" descr="Sello: anillos y araucaria · neg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3488846"/>
            <a:ext cx="3749040" cy="1343349"/>
          </a:xfrm>
          <a:prstGeom prst="rect">
            <a:avLst/>
          </a:prstGeom>
        </p:spPr>
      </p:pic>
      <p:sp>
        <p:nvSpPr>
          <p:cNvPr id="7" name="Rótulo"/>
          <p:cNvSpPr txBox="1"/>
          <p:nvPr/>
        </p:nvSpPr>
        <p:spPr>
          <a:xfrm>
            <a:off x="731520" y="5715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accent5"/>
                </a:solidFill>
              </a:rPr>
              <a:t>NEGATIVO</a:t>
            </a:r>
            <a:endParaRPr lang="en-US" sz="1000" dirty="0"/>
          </a:p>
        </p:txBody>
      </p:sp>
      <p:sp>
        <p:nvSpPr>
          <p:cNvPr id="8" name="Panel una tinta sobre kraft"/>
          <p:cNvSpPr/>
          <p:nvPr/>
        </p:nvSpPr>
        <p:spPr>
          <a:xfrm>
            <a:off x="6199632" y="2331720"/>
            <a:ext cx="5532120" cy="3840480"/>
          </a:xfrm>
          <a:prstGeom prst="roundRect">
            <a:avLst>
              <a:gd name="adj" fmla="val 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Logo una tinta sobre kraft" descr="Sello: anillos y araucaria · una tinta sobre kra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172" y="3488846"/>
            <a:ext cx="3749040" cy="1343349"/>
          </a:xfrm>
          <a:prstGeom prst="rect">
            <a:avLst/>
          </a:prstGeom>
        </p:spPr>
      </p:pic>
      <p:sp>
        <p:nvSpPr>
          <p:cNvPr id="10" name="Rótulo"/>
          <p:cNvSpPr txBox="1"/>
          <p:nvPr/>
        </p:nvSpPr>
        <p:spPr>
          <a:xfrm>
            <a:off x="6473952" y="5715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tx2"/>
                </a:solidFill>
              </a:rPr>
              <a:t>UNA TINTA SOBRE KRAFT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spc="400" kern="0" dirty="0">
                <a:solidFill>
                  <a:schemeClr val="accent1"/>
                </a:solidFill>
              </a:rPr>
              <a:t>SECCIÓN 3 · 5 PROPUESTAS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5603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2"/>
                </a:solidFill>
              </a:rPr>
              <a:t>Árbol solo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93192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accent5"/>
                </a:solidFill>
              </a:rPr>
              <a:t>La silueta como signo. Sin contenedor ni letra, el árbol habla por sí mismo y se integra al logotipo con la mayor simplicidad. El desafío es la especie: araucaria como emblema o pino como materia prima.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Araucaria de ramas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0058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6"/>
                </a:solidFill>
              </a:rPr>
              <a:t>ÁRBOL SOLO · A2</a:t>
            </a:r>
            <a:endParaRPr lang="en-US" sz="1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417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La silueta inconfundible del pino Paraná: copa plana en capas y fuste alto. Reconocida en todo el litoral como símbolo misionero.</a:t>
            </a:r>
            <a:endParaRPr lang="en-US" sz="1500" dirty="0"/>
          </a:p>
        </p:txBody>
      </p:sp>
      <p:sp>
        <p:nvSpPr>
          <p:cNvPr id="5" name="Panel negativo"/>
          <p:cNvSpPr/>
          <p:nvPr/>
        </p:nvSpPr>
        <p:spPr>
          <a:xfrm>
            <a:off x="457200" y="2331720"/>
            <a:ext cx="5532120" cy="3840480"/>
          </a:xfrm>
          <a:prstGeom prst="roundRect">
            <a:avLst>
              <a:gd name="adj" fmla="val 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Logo negativo" descr="Araucaria de ramas · neg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3488846"/>
            <a:ext cx="3749040" cy="1343349"/>
          </a:xfrm>
          <a:prstGeom prst="rect">
            <a:avLst/>
          </a:prstGeom>
        </p:spPr>
      </p:pic>
      <p:sp>
        <p:nvSpPr>
          <p:cNvPr id="7" name="Rótulo"/>
          <p:cNvSpPr txBox="1"/>
          <p:nvPr/>
        </p:nvSpPr>
        <p:spPr>
          <a:xfrm>
            <a:off x="731520" y="5715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accent5"/>
                </a:solidFill>
              </a:rPr>
              <a:t>NEGATIVO</a:t>
            </a:r>
            <a:endParaRPr lang="en-US" sz="1000" dirty="0"/>
          </a:p>
        </p:txBody>
      </p:sp>
      <p:sp>
        <p:nvSpPr>
          <p:cNvPr id="8" name="Panel una tinta sobre kraft"/>
          <p:cNvSpPr/>
          <p:nvPr/>
        </p:nvSpPr>
        <p:spPr>
          <a:xfrm>
            <a:off x="6199632" y="2331720"/>
            <a:ext cx="5532120" cy="3840480"/>
          </a:xfrm>
          <a:prstGeom prst="roundRect">
            <a:avLst>
              <a:gd name="adj" fmla="val 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Logo una tinta sobre kraft" descr="Araucaria de ramas · una tinta sobre kra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172" y="3488846"/>
            <a:ext cx="3749040" cy="1343349"/>
          </a:xfrm>
          <a:prstGeom prst="rect">
            <a:avLst/>
          </a:prstGeom>
        </p:spPr>
      </p:pic>
      <p:sp>
        <p:nvSpPr>
          <p:cNvPr id="10" name="Rótulo"/>
          <p:cNvSpPr txBox="1"/>
          <p:nvPr/>
        </p:nvSpPr>
        <p:spPr>
          <a:xfrm>
            <a:off x="6473952" y="5715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tx2"/>
                </a:solidFill>
              </a:rPr>
              <a:t>UNA TINTA SOBRE KRAFT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Araucaria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0058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6"/>
                </a:solidFill>
              </a:rPr>
              <a:t>ÁRBOL SOLO · P4</a:t>
            </a:r>
            <a:endParaRPr lang="en-US" sz="1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417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Versión vertical y estilizada de la araucaria, de trazo afinado. Liviana y elegante junto al logotipo.</a:t>
            </a:r>
            <a:endParaRPr lang="en-US" sz="1500" dirty="0"/>
          </a:p>
        </p:txBody>
      </p:sp>
      <p:sp>
        <p:nvSpPr>
          <p:cNvPr id="5" name="Panel negativo"/>
          <p:cNvSpPr/>
          <p:nvPr/>
        </p:nvSpPr>
        <p:spPr>
          <a:xfrm>
            <a:off x="457200" y="2331720"/>
            <a:ext cx="5532120" cy="3840480"/>
          </a:xfrm>
          <a:prstGeom prst="roundRect">
            <a:avLst>
              <a:gd name="adj" fmla="val 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Logo negativo" descr="Araucaria · neg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3488846"/>
            <a:ext cx="3749040" cy="1343349"/>
          </a:xfrm>
          <a:prstGeom prst="rect">
            <a:avLst/>
          </a:prstGeom>
        </p:spPr>
      </p:pic>
      <p:sp>
        <p:nvSpPr>
          <p:cNvPr id="7" name="Rótulo"/>
          <p:cNvSpPr txBox="1"/>
          <p:nvPr/>
        </p:nvSpPr>
        <p:spPr>
          <a:xfrm>
            <a:off x="731520" y="5715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accent5"/>
                </a:solidFill>
              </a:rPr>
              <a:t>NEGATIVO</a:t>
            </a:r>
            <a:endParaRPr lang="en-US" sz="1000" dirty="0"/>
          </a:p>
        </p:txBody>
      </p:sp>
      <p:sp>
        <p:nvSpPr>
          <p:cNvPr id="8" name="Panel una tinta sobre kraft"/>
          <p:cNvSpPr/>
          <p:nvPr/>
        </p:nvSpPr>
        <p:spPr>
          <a:xfrm>
            <a:off x="6199632" y="2331720"/>
            <a:ext cx="5532120" cy="3840480"/>
          </a:xfrm>
          <a:prstGeom prst="roundRect">
            <a:avLst>
              <a:gd name="adj" fmla="val 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Logo una tinta sobre kraft" descr="Araucaria · una tinta sobre kra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172" y="3488846"/>
            <a:ext cx="3749040" cy="1343349"/>
          </a:xfrm>
          <a:prstGeom prst="rect">
            <a:avLst/>
          </a:prstGeom>
        </p:spPr>
      </p:pic>
      <p:sp>
        <p:nvSpPr>
          <p:cNvPr id="10" name="Rótulo"/>
          <p:cNvSpPr txBox="1"/>
          <p:nvPr/>
        </p:nvSpPr>
        <p:spPr>
          <a:xfrm>
            <a:off x="6473952" y="5715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tx2"/>
                </a:solidFill>
              </a:rPr>
              <a:t>UNA TINTA SOBRE KRAFT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Pino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0058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6"/>
                </a:solidFill>
              </a:rPr>
              <a:t>ÁRBOL SOLO · P1</a:t>
            </a:r>
            <a:endParaRPr lang="en-US" sz="1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417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El pino elliottii y taeda, materia prima de la compañía, dibujado con ramas que se afinan. Honestidad de origen: el árbol que se planta es el árbol que se muestra.</a:t>
            </a:r>
            <a:endParaRPr lang="en-US" sz="1500" dirty="0"/>
          </a:p>
        </p:txBody>
      </p:sp>
      <p:sp>
        <p:nvSpPr>
          <p:cNvPr id="5" name="Panel negativo"/>
          <p:cNvSpPr/>
          <p:nvPr/>
        </p:nvSpPr>
        <p:spPr>
          <a:xfrm>
            <a:off x="457200" y="2331720"/>
            <a:ext cx="5532120" cy="3840480"/>
          </a:xfrm>
          <a:prstGeom prst="roundRect">
            <a:avLst>
              <a:gd name="adj" fmla="val 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Logo negativo" descr="Pino · neg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3488846"/>
            <a:ext cx="3749040" cy="1343349"/>
          </a:xfrm>
          <a:prstGeom prst="rect">
            <a:avLst/>
          </a:prstGeom>
        </p:spPr>
      </p:pic>
      <p:sp>
        <p:nvSpPr>
          <p:cNvPr id="7" name="Rótulo"/>
          <p:cNvSpPr txBox="1"/>
          <p:nvPr/>
        </p:nvSpPr>
        <p:spPr>
          <a:xfrm>
            <a:off x="731520" y="5715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accent5"/>
                </a:solidFill>
              </a:rPr>
              <a:t>NEGATIVO</a:t>
            </a:r>
            <a:endParaRPr lang="en-US" sz="1000" dirty="0"/>
          </a:p>
        </p:txBody>
      </p:sp>
      <p:sp>
        <p:nvSpPr>
          <p:cNvPr id="8" name="Panel una tinta sobre kraft"/>
          <p:cNvSpPr/>
          <p:nvPr/>
        </p:nvSpPr>
        <p:spPr>
          <a:xfrm>
            <a:off x="6199632" y="2331720"/>
            <a:ext cx="5532120" cy="3840480"/>
          </a:xfrm>
          <a:prstGeom prst="roundRect">
            <a:avLst>
              <a:gd name="adj" fmla="val 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Logo una tinta sobre kraft" descr="Pino · una tinta sobre kra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172" y="3488846"/>
            <a:ext cx="3749040" cy="1343349"/>
          </a:xfrm>
          <a:prstGeom prst="rect">
            <a:avLst/>
          </a:prstGeom>
        </p:spPr>
      </p:pic>
      <p:sp>
        <p:nvSpPr>
          <p:cNvPr id="10" name="Rótulo"/>
          <p:cNvSpPr txBox="1"/>
          <p:nvPr/>
        </p:nvSpPr>
        <p:spPr>
          <a:xfrm>
            <a:off x="6473952" y="5715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tx2"/>
                </a:solidFill>
              </a:rPr>
              <a:t>UNA TINTA SOBRE KRAFT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Pino pleno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0058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6"/>
                </a:solidFill>
              </a:rPr>
              <a:t>ÁRBOL SOLO · P2</a:t>
            </a:r>
            <a:endParaRPr lang="en-US" sz="1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417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Más ramas y copa más ancha: mayor presencia y mejor equilibrio con el peso del logotipo en bold.</a:t>
            </a:r>
            <a:endParaRPr lang="en-US" sz="1500" dirty="0"/>
          </a:p>
        </p:txBody>
      </p:sp>
      <p:sp>
        <p:nvSpPr>
          <p:cNvPr id="5" name="Panel negativo"/>
          <p:cNvSpPr/>
          <p:nvPr/>
        </p:nvSpPr>
        <p:spPr>
          <a:xfrm>
            <a:off x="457200" y="2331720"/>
            <a:ext cx="5532120" cy="3840480"/>
          </a:xfrm>
          <a:prstGeom prst="roundRect">
            <a:avLst>
              <a:gd name="adj" fmla="val 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Logo negativo" descr="Pino pleno · neg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3488846"/>
            <a:ext cx="3749040" cy="1343349"/>
          </a:xfrm>
          <a:prstGeom prst="rect">
            <a:avLst/>
          </a:prstGeom>
        </p:spPr>
      </p:pic>
      <p:sp>
        <p:nvSpPr>
          <p:cNvPr id="7" name="Rótulo"/>
          <p:cNvSpPr txBox="1"/>
          <p:nvPr/>
        </p:nvSpPr>
        <p:spPr>
          <a:xfrm>
            <a:off x="731520" y="5715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accent5"/>
                </a:solidFill>
              </a:rPr>
              <a:t>NEGATIVO</a:t>
            </a:r>
            <a:endParaRPr lang="en-US" sz="1000" dirty="0"/>
          </a:p>
        </p:txBody>
      </p:sp>
      <p:sp>
        <p:nvSpPr>
          <p:cNvPr id="8" name="Panel una tinta sobre kraft"/>
          <p:cNvSpPr/>
          <p:nvPr/>
        </p:nvSpPr>
        <p:spPr>
          <a:xfrm>
            <a:off x="6199632" y="2331720"/>
            <a:ext cx="5532120" cy="3840480"/>
          </a:xfrm>
          <a:prstGeom prst="roundRect">
            <a:avLst>
              <a:gd name="adj" fmla="val 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Logo una tinta sobre kraft" descr="Pino pleno · una tinta sobre kra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172" y="3488846"/>
            <a:ext cx="3749040" cy="1343349"/>
          </a:xfrm>
          <a:prstGeom prst="rect">
            <a:avLst/>
          </a:prstGeom>
        </p:spPr>
      </p:pic>
      <p:sp>
        <p:nvSpPr>
          <p:cNvPr id="10" name="Rótulo"/>
          <p:cNvSpPr txBox="1"/>
          <p:nvPr/>
        </p:nvSpPr>
        <p:spPr>
          <a:xfrm>
            <a:off x="6473952" y="5715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tx2"/>
                </a:solidFill>
              </a:rPr>
              <a:t>UNA TINTA SOBRE KRAFT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Trazo pesado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0058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6"/>
                </a:solidFill>
              </a:rPr>
              <a:t>ÁRBOL SOLO · P3</a:t>
            </a:r>
            <a:endParaRPr lang="en-US" sz="1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417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Trazos robustos pensados para la impresión en bolsas y los tamaños mínimos. La versión de mayor resistencia técnica.</a:t>
            </a:r>
            <a:endParaRPr lang="en-US" sz="1500" dirty="0"/>
          </a:p>
        </p:txBody>
      </p:sp>
      <p:sp>
        <p:nvSpPr>
          <p:cNvPr id="5" name="Panel negativo"/>
          <p:cNvSpPr/>
          <p:nvPr/>
        </p:nvSpPr>
        <p:spPr>
          <a:xfrm>
            <a:off x="457200" y="2331720"/>
            <a:ext cx="5532120" cy="3840480"/>
          </a:xfrm>
          <a:prstGeom prst="roundRect">
            <a:avLst>
              <a:gd name="adj" fmla="val 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Logo negativo" descr="Trazo pesado · neg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3488846"/>
            <a:ext cx="3749040" cy="1343349"/>
          </a:xfrm>
          <a:prstGeom prst="rect">
            <a:avLst/>
          </a:prstGeom>
        </p:spPr>
      </p:pic>
      <p:sp>
        <p:nvSpPr>
          <p:cNvPr id="7" name="Rótulo"/>
          <p:cNvSpPr txBox="1"/>
          <p:nvPr/>
        </p:nvSpPr>
        <p:spPr>
          <a:xfrm>
            <a:off x="731520" y="5715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accent5"/>
                </a:solidFill>
              </a:rPr>
              <a:t>NEGATIVO</a:t>
            </a:r>
            <a:endParaRPr lang="en-US" sz="1000" dirty="0"/>
          </a:p>
        </p:txBody>
      </p:sp>
      <p:sp>
        <p:nvSpPr>
          <p:cNvPr id="8" name="Panel una tinta sobre kraft"/>
          <p:cNvSpPr/>
          <p:nvPr/>
        </p:nvSpPr>
        <p:spPr>
          <a:xfrm>
            <a:off x="6199632" y="2331720"/>
            <a:ext cx="5532120" cy="3840480"/>
          </a:xfrm>
          <a:prstGeom prst="roundRect">
            <a:avLst>
              <a:gd name="adj" fmla="val 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Logo una tinta sobre kraft" descr="Trazo pesado · una tinta sobre kraf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172" y="3488846"/>
            <a:ext cx="3749040" cy="1343349"/>
          </a:xfrm>
          <a:prstGeom prst="rect">
            <a:avLst/>
          </a:prstGeom>
        </p:spPr>
      </p:pic>
      <p:sp>
        <p:nvSpPr>
          <p:cNvPr id="10" name="Rótulo"/>
          <p:cNvSpPr txBox="1"/>
          <p:nvPr/>
        </p:nvSpPr>
        <p:spPr>
          <a:xfrm>
            <a:off x="6473952" y="5715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tx2"/>
                </a:solidFill>
              </a:rPr>
              <a:t>UNA TINTA SOBRE KRAFT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spc="400" kern="0" dirty="0">
                <a:solidFill>
                  <a:schemeClr val="accent1"/>
                </a:solidFill>
              </a:rPr>
              <a:t>COMÚN A TODAS LAS MARCAS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5603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2"/>
                </a:solidFill>
              </a:rPr>
              <a:t>Sistema de identidad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93192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chemeClr val="accent5"/>
                </a:solidFill>
              </a:rPr>
              <a:t>Una paleta nacida del paisaje misionero, una tipografía en dos niveles y reglas pensadas para imprimir a una tinta sobre kraft.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Paleta, tipografía y reglas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0058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6"/>
                </a:solidFill>
              </a:rPr>
              <a:t>SISTEMA · COMÚN A TODAS LAS MARCAS FINALISTAS</a:t>
            </a:r>
            <a:endParaRPr lang="en-US" sz="1200" dirty="0"/>
          </a:p>
        </p:txBody>
      </p:sp>
      <p:sp>
        <p:nvSpPr>
          <p:cNvPr id="4" name="Color Verde selva"/>
          <p:cNvSpPr/>
          <p:nvPr/>
        </p:nvSpPr>
        <p:spPr>
          <a:xfrm>
            <a:off x="457200" y="1600200"/>
            <a:ext cx="2103120" cy="210312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Dato Verde selva"/>
          <p:cNvSpPr txBox="1"/>
          <p:nvPr/>
        </p:nvSpPr>
        <p:spPr>
          <a:xfrm>
            <a:off x="640080" y="28803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Verde selva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#1F3A2B · tinta principal</a:t>
            </a:r>
            <a:endParaRPr lang="en-US" sz="1600" dirty="0"/>
          </a:p>
        </p:txBody>
      </p:sp>
      <p:sp>
        <p:nvSpPr>
          <p:cNvPr id="6" name="Color Kraft"/>
          <p:cNvSpPr/>
          <p:nvPr/>
        </p:nvSpPr>
        <p:spPr>
          <a:xfrm>
            <a:off x="2743200" y="1600200"/>
            <a:ext cx="2103120" cy="2103120"/>
          </a:xfrm>
          <a:prstGeom prst="roundRect">
            <a:avLst>
              <a:gd name="adj" fmla="val 521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Dato Kraft"/>
          <p:cNvSpPr txBox="1"/>
          <p:nvPr/>
        </p:nvSpPr>
        <p:spPr>
          <a:xfrm>
            <a:off x="2926080" y="28803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Kraft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#B98A57 · soporte y acento</a:t>
            </a:r>
            <a:endParaRPr lang="en-US" sz="1600" dirty="0"/>
          </a:p>
        </p:txBody>
      </p:sp>
      <p:sp>
        <p:nvSpPr>
          <p:cNvPr id="8" name="Color Kraft oscuro"/>
          <p:cNvSpPr/>
          <p:nvPr/>
        </p:nvSpPr>
        <p:spPr>
          <a:xfrm>
            <a:off x="5029200" y="1600200"/>
            <a:ext cx="2103120" cy="2103120"/>
          </a:xfrm>
          <a:prstGeom prst="roundRect">
            <a:avLst>
              <a:gd name="adj" fmla="val 521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Dato Kraft oscuro"/>
          <p:cNvSpPr txBox="1"/>
          <p:nvPr/>
        </p:nvSpPr>
        <p:spPr>
          <a:xfrm>
            <a:off x="5212080" y="28803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Kraft oscuro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#8E6538</a:t>
            </a:r>
            <a:endParaRPr lang="en-US" sz="1600" dirty="0"/>
          </a:p>
        </p:txBody>
      </p:sp>
      <p:sp>
        <p:nvSpPr>
          <p:cNvPr id="10" name="Color Tierra colorada"/>
          <p:cNvSpPr/>
          <p:nvPr/>
        </p:nvSpPr>
        <p:spPr>
          <a:xfrm>
            <a:off x="7315200" y="1600200"/>
            <a:ext cx="2103120" cy="2103120"/>
          </a:xfrm>
          <a:prstGeom prst="roundRect">
            <a:avLst>
              <a:gd name="adj" fmla="val 521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Dato Tierra colorada"/>
          <p:cNvSpPr txBox="1"/>
          <p:nvPr/>
        </p:nvSpPr>
        <p:spPr>
          <a:xfrm>
            <a:off x="7498080" y="28803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Tierra colorada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#B0452B · acento</a:t>
            </a:r>
            <a:endParaRPr lang="en-US" sz="1600" dirty="0"/>
          </a:p>
        </p:txBody>
      </p:sp>
      <p:sp>
        <p:nvSpPr>
          <p:cNvPr id="12" name="Color Papel crudo"/>
          <p:cNvSpPr/>
          <p:nvPr/>
        </p:nvSpPr>
        <p:spPr>
          <a:xfrm>
            <a:off x="9601200" y="1600200"/>
            <a:ext cx="21031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Dato Papel crudo"/>
          <p:cNvSpPr txBox="1"/>
          <p:nvPr/>
        </p:nvSpPr>
        <p:spPr>
          <a:xfrm>
            <a:off x="9784080" y="288036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Papel crudo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#F2EADB · fondo</a:t>
            </a:r>
            <a:endParaRPr lang="en-US" sz="1600" dirty="0"/>
          </a:p>
        </p:txBody>
      </p:sp>
      <p:sp>
        <p:nvSpPr>
          <p:cNvPr id="14" name="Tipografía"/>
          <p:cNvSpPr/>
          <p:nvPr/>
        </p:nvSpPr>
        <p:spPr>
          <a:xfrm>
            <a:off x="457200" y="3931920"/>
            <a:ext cx="640080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Muestra tipográfica"/>
          <p:cNvSpPr txBox="1"/>
          <p:nvPr/>
        </p:nvSpPr>
        <p:spPr>
          <a:xfrm>
            <a:off x="777240" y="4069080"/>
            <a:ext cx="5852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000" kern="0" dirty="0">
                <a:solidFill>
                  <a:schemeClr val="tx1"/>
                </a:solidFill>
              </a:rPr>
              <a:t>PAPEL</a:t>
            </a:r>
            <a:endParaRPr lang="en-US" sz="1600" dirty="0"/>
          </a:p>
          <a:p>
            <a:pPr indent="0" marL="0">
              <a:buNone/>
            </a:pPr>
            <a:r>
              <a:rPr lang="en-US" sz="6600" b="1" spc="-200" kern="0" dirty="0">
                <a:solidFill>
                  <a:schemeClr val="tx1"/>
                </a:solidFill>
              </a:rPr>
              <a:t>misionero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Helvetica Regular espaciada + Helvetica Bold apretada. Dos niveles: el origen manda.</a:t>
            </a:r>
            <a:endParaRPr lang="en-US" sz="1600" dirty="0"/>
          </a:p>
        </p:txBody>
      </p:sp>
      <p:sp>
        <p:nvSpPr>
          <p:cNvPr id="16" name="Reglas"/>
          <p:cNvSpPr/>
          <p:nvPr/>
        </p:nvSpPr>
        <p:spPr>
          <a:xfrm>
            <a:off x="7040880" y="3931920"/>
            <a:ext cx="4690872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7" name="Lista de reglas"/>
          <p:cNvSpPr txBox="1"/>
          <p:nvPr/>
        </p:nvSpPr>
        <p:spPr>
          <a:xfrm>
            <a:off x="7315200" y="411480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Reglas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Una sola tinta: verde selva, o kraft y crudo en negativo.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Calado mínimo de 5 unidades para flexografía.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Isotipo a 1,3 veces la altura del bloque de texto.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Margen de respeto: la altura de «PAPEL» alrededor.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Tamaño mínimo del isotipo: 16 px / 6 mm.</a:t>
            </a:r>
            <a:endParaRPr lang="en-US" sz="1600" dirty="0"/>
          </a:p>
        </p:txBody>
      </p:sp>
      <p:sp>
        <p:nvSpPr>
          <p:cNvPr id="18" name="Text 0"/>
          <p:cNvSpPr/>
          <p:nvPr>
            <p:ph idx="102" type="body" hasCustomPrompt="1"/>
          </p:nvPr>
        </p:nvSpPr>
        <p:spPr>
          <a:xfrm>
            <a:off x="457200" y="1417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6576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Pruebas de color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0058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accent6"/>
                </a:solidFill>
              </a:rPr>
              <a:t>SISTEMA · ARAUCARIA DE RAMAS (A2)</a:t>
            </a:r>
            <a:endParaRPr lang="en-US" sz="1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417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La misma marca en las combinaciones de la paleta: todas funcionan a una o dos tintas y conservan el contraste.</a:t>
            </a:r>
            <a:endParaRPr lang="en-US" sz="1500" dirty="0"/>
          </a:p>
        </p:txBody>
      </p:sp>
      <p:sp>
        <p:nvSpPr>
          <p:cNvPr id="5" name="Prueba Verde selva · kraft y crudo"/>
          <p:cNvSpPr/>
          <p:nvPr/>
        </p:nvSpPr>
        <p:spPr>
          <a:xfrm>
            <a:off x="457200" y="2103120"/>
            <a:ext cx="3611880" cy="192024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6" name="Logo Verde selva · kraft y crudo" descr="Araucaria de ramas · Verde selva · kraft y cru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478425"/>
            <a:ext cx="2651760" cy="950174"/>
          </a:xfrm>
          <a:prstGeom prst="rect">
            <a:avLst/>
          </a:prstGeom>
        </p:spPr>
      </p:pic>
      <p:sp>
        <p:nvSpPr>
          <p:cNvPr id="7" name="Rótulo"/>
          <p:cNvSpPr txBox="1"/>
          <p:nvPr/>
        </p:nvSpPr>
        <p:spPr>
          <a:xfrm>
            <a:off x="640080" y="36758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5"/>
                </a:solidFill>
              </a:rPr>
              <a:t>VERDE SELVA · KRAFT Y CRUDO</a:t>
            </a:r>
            <a:endParaRPr lang="en-US" sz="1000" dirty="0"/>
          </a:p>
        </p:txBody>
      </p:sp>
      <p:sp>
        <p:nvSpPr>
          <p:cNvPr id="8" name="Prueba Kraft · verde selva"/>
          <p:cNvSpPr/>
          <p:nvPr/>
        </p:nvSpPr>
        <p:spPr>
          <a:xfrm>
            <a:off x="4251960" y="2103120"/>
            <a:ext cx="3611880" cy="192024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Logo Kraft · verde selva" descr="Araucaria de ramas · Kraft · verde selv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2478425"/>
            <a:ext cx="2651760" cy="950174"/>
          </a:xfrm>
          <a:prstGeom prst="rect">
            <a:avLst/>
          </a:prstGeom>
        </p:spPr>
      </p:pic>
      <p:sp>
        <p:nvSpPr>
          <p:cNvPr id="10" name="Rótulo"/>
          <p:cNvSpPr txBox="1"/>
          <p:nvPr/>
        </p:nvSpPr>
        <p:spPr>
          <a:xfrm>
            <a:off x="4434840" y="36758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tx2"/>
                </a:solidFill>
              </a:rPr>
              <a:t>KRAFT · VERDE SELVA</a:t>
            </a:r>
            <a:endParaRPr lang="en-US" sz="1000" dirty="0"/>
          </a:p>
        </p:txBody>
      </p:sp>
      <p:sp>
        <p:nvSpPr>
          <p:cNvPr id="11" name="Prueba Papel crudo · verde selva"/>
          <p:cNvSpPr/>
          <p:nvPr/>
        </p:nvSpPr>
        <p:spPr>
          <a:xfrm>
            <a:off x="8046720" y="2103120"/>
            <a:ext cx="361188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2" name="Logo Papel crudo · verde selva" descr="Araucaria de ramas · Papel crudo · verde selv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780" y="2478425"/>
            <a:ext cx="2651760" cy="950174"/>
          </a:xfrm>
          <a:prstGeom prst="rect">
            <a:avLst/>
          </a:prstGeom>
        </p:spPr>
      </p:pic>
      <p:sp>
        <p:nvSpPr>
          <p:cNvPr id="13" name="Rótulo"/>
          <p:cNvSpPr txBox="1"/>
          <p:nvPr/>
        </p:nvSpPr>
        <p:spPr>
          <a:xfrm>
            <a:off x="8229600" y="36758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6"/>
                </a:solidFill>
              </a:rPr>
              <a:t>PAPEL CRUDO · VERDE SELVA</a:t>
            </a:r>
            <a:endParaRPr lang="en-US" sz="1000" dirty="0"/>
          </a:p>
        </p:txBody>
      </p:sp>
      <p:sp>
        <p:nvSpPr>
          <p:cNvPr id="14" name="Prueba Tierra colorada · crudo"/>
          <p:cNvSpPr/>
          <p:nvPr/>
        </p:nvSpPr>
        <p:spPr>
          <a:xfrm>
            <a:off x="457200" y="4206240"/>
            <a:ext cx="3611880" cy="1920240"/>
          </a:xfrm>
          <a:prstGeom prst="roundRect">
            <a:avLst>
              <a:gd name="adj" fmla="val 571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Logo Tierra colorada · crudo" descr="Araucaria de ramas · Tierra colorada · crud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581545"/>
            <a:ext cx="2651760" cy="950174"/>
          </a:xfrm>
          <a:prstGeom prst="rect">
            <a:avLst/>
          </a:prstGeom>
        </p:spPr>
      </p:pic>
      <p:sp>
        <p:nvSpPr>
          <p:cNvPr id="16" name="Rótulo"/>
          <p:cNvSpPr txBox="1"/>
          <p:nvPr/>
        </p:nvSpPr>
        <p:spPr>
          <a:xfrm>
            <a:off x="640080" y="577900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bg2"/>
                </a:solidFill>
              </a:rPr>
              <a:t>TIERRA COLORADA · CRUDO</a:t>
            </a:r>
            <a:endParaRPr lang="en-US" sz="1000" dirty="0"/>
          </a:p>
        </p:txBody>
      </p:sp>
      <p:sp>
        <p:nvSpPr>
          <p:cNvPr id="17" name="Prueba Kraft oscuro · crudo"/>
          <p:cNvSpPr/>
          <p:nvPr/>
        </p:nvSpPr>
        <p:spPr>
          <a:xfrm>
            <a:off x="4251960" y="4206240"/>
            <a:ext cx="3611880" cy="1920240"/>
          </a:xfrm>
          <a:prstGeom prst="roundRect">
            <a:avLst>
              <a:gd name="adj" fmla="val 571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8" name="Logo Kraft oscuro · crudo" descr="Araucaria de ramas · Kraft oscuro · crud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020" y="4581545"/>
            <a:ext cx="2651760" cy="950174"/>
          </a:xfrm>
          <a:prstGeom prst="rect">
            <a:avLst/>
          </a:prstGeom>
        </p:spPr>
      </p:pic>
      <p:sp>
        <p:nvSpPr>
          <p:cNvPr id="19" name="Rótulo"/>
          <p:cNvSpPr txBox="1"/>
          <p:nvPr/>
        </p:nvSpPr>
        <p:spPr>
          <a:xfrm>
            <a:off x="4434840" y="577900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bg2"/>
                </a:solidFill>
              </a:rPr>
              <a:t>KRAFT OSCURO · CRUDO</a:t>
            </a:r>
            <a:endParaRPr lang="en-US" sz="1000" dirty="0"/>
          </a:p>
        </p:txBody>
      </p:sp>
      <p:sp>
        <p:nvSpPr>
          <p:cNvPr id="20" name="Prueba Papel crudo · tierra y verde"/>
          <p:cNvSpPr/>
          <p:nvPr/>
        </p:nvSpPr>
        <p:spPr>
          <a:xfrm>
            <a:off x="8046720" y="4206240"/>
            <a:ext cx="361188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1" name="Logo Papel crudo · tierra y verde" descr="Araucaria de ramas · Papel crudo · tierra y verd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6780" y="4581545"/>
            <a:ext cx="2651760" cy="950174"/>
          </a:xfrm>
          <a:prstGeom prst="rect">
            <a:avLst/>
          </a:prstGeom>
        </p:spPr>
      </p:pic>
      <p:sp>
        <p:nvSpPr>
          <p:cNvPr id="22" name="Rótulo"/>
          <p:cNvSpPr txBox="1"/>
          <p:nvPr/>
        </p:nvSpPr>
        <p:spPr>
          <a:xfrm>
            <a:off x="8229600" y="577900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6"/>
                </a:solidFill>
              </a:rPr>
              <a:t>PAPEL CRUDO · TIERRA Y VERDE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pel Misionero">
  <a:themeElements>
    <a:clrScheme name="Papel Misionero">
      <a:dk1>
        <a:srgbClr val="1F3A2B"/>
      </a:dk1>
      <a:lt1>
        <a:srgbClr val="FFFFFF"/>
      </a:lt1>
      <a:dk2>
        <a:srgbClr val="12241A"/>
      </a:dk2>
      <a:lt2>
        <a:srgbClr val="F2EADB"/>
      </a:lt2>
      <a:accent1>
        <a:srgbClr val="B98A57"/>
      </a:accent1>
      <a:accent2>
        <a:srgbClr val="B0452B"/>
      </a:accent2>
      <a:accent3>
        <a:srgbClr val="8E6538"/>
      </a:accent3>
      <a:accent4>
        <a:srgbClr val="5E7A66"/>
      </a:accent4>
      <a:accent5>
        <a:srgbClr val="D8CDB9"/>
      </a:accent5>
      <a:accent6>
        <a:srgbClr val="64625A"/>
      </a:accent6>
      <a:hlink>
        <a:srgbClr val="B0452B"/>
      </a:hlink>
      <a:folHlink>
        <a:srgbClr val="8E6538"/>
      </a:folHlink>
    </a:clrScheme>
    <a:fontScheme name="Papel Misioner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Papel Misionero · marcas finalistas</dc:title>
  <dc:subject>PptxGenJS Presentation</dc:subject>
  <dc:creator>PptxGenJS</dc:creator>
  <cp:lastModifiedBy>PptxGenJS</cp:lastModifiedBy>
  <cp:revision>1</cp:revision>
  <dcterms:created xsi:type="dcterms:W3CDTF">2026-10-29T18:46:14Z</dcterms:created>
  <dcterms:modified xsi:type="dcterms:W3CDTF">2026-10-29T18:46:14Z</dcterms:modified>
</cp:coreProperties>
</file>